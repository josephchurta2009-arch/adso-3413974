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4480560"/>
            <a:ext cx="9070848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858000" y="64008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229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General de Sistemas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1965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 al Caso 2 – CodeFactory Solutions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651760"/>
            <a:ext cx="54864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834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Felipe Aguirre Churta  |  Miguel Ángel Estrada Torrentes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Andrés Javier Mora  •  SENA – Ficha 3413988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Desarrollo de Software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926080" cy="50703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" y="21031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General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Sistemas?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7160" y="35204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4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Ludwig von Bertalanffy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4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004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108960" y="777240"/>
            <a:ext cx="5760720" cy="1188720"/>
          </a:xfrm>
          <a:prstGeom prst="rect">
            <a:avLst>
              <a:gd name="adj" fmla="val 4615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46120" y="8229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científico que estudia los sistemas como conjuntos de elementos interrelacionados que trabajan juntos para cumplir un objetivo común.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154680" y="2212848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703320" y="21488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Sistema: 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92040" y="214884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partes interrelacionadas que forman un todo.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154680" y="2779776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54680" y="2779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703320" y="27157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Entradas: 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92040" y="271576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Recursos, datos o solicitudes que ingresan al sistema.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154680" y="3346704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154680" y="3346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703320" y="328269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Proceso: 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92040" y="328269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de las entradas mediante actividades definidas.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154680" y="3913632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15468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703320" y="384962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Salidas: 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892040" y="3849624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producidos por el sistema hacia su entorno.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154680" y="4480560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5468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703320" y="441655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Retroalimentación: 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892040" y="441655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retorno que permite mejorar el sistema.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Fundamental &amp; Enfoque Sistémico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1920240"/>
          </a:xfrm>
          <a:prstGeom prst="rect">
            <a:avLst>
              <a:gd name="adj" fmla="val 2857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Principio Fundamental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todo es más que la suma de sus partes."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significa que al comprender un sistema analizando cada elemento por separado, se observan sus relaciones e interacciones para entender el comportamiento global.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023360" cy="1920240"/>
          </a:xfrm>
          <a:prstGeom prst="rect">
            <a:avLst>
              <a:gd name="adj" fmla="val 285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822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Enfoque Sistémico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2344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analizar la realidad desde una perspectiva holística: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Cómo se relacionan los componentes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Cómo influyen entre sí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Cómo funcionan en conjunto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Características del Enfoque Sistémico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3337560"/>
            <a:ext cx="2011680" cy="1463040"/>
          </a:xfrm>
          <a:prstGeom prst="rect">
            <a:avLst>
              <a:gd name="adj" fmla="val 3125"/>
            </a:avLst>
          </a:prstGeom>
          <a:solidFill>
            <a:srgbClr val="E8EDF3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3337560"/>
            <a:ext cx="201168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3337560"/>
            <a:ext cx="1865376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Global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657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sistema completo y sus interacciones.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50592" y="3337560"/>
            <a:ext cx="2011680" cy="146304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50592" y="3337560"/>
            <a:ext cx="201168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3744" y="3337560"/>
            <a:ext cx="1865376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Interrelaciones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42032" y="3657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Vínculos entre elementos internos y externos.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26864" y="3337560"/>
            <a:ext cx="2011680" cy="1463040"/>
          </a:xfrm>
          <a:prstGeom prst="rect">
            <a:avLst>
              <a:gd name="adj" fmla="val 3125"/>
            </a:avLst>
          </a:prstGeom>
          <a:solidFill>
            <a:srgbClr val="E8EDF3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3337560"/>
            <a:ext cx="201168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3337560"/>
            <a:ext cx="1865376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18304" y="3657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jerarquizada con roles definidos.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03136" y="3337560"/>
            <a:ext cx="2011680" cy="146304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3337560"/>
            <a:ext cx="201168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3337560"/>
            <a:ext cx="1865376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Integral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94576" y="3657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Entendimiento profundo de causas y efectos.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e Importancia de la TGS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Áreas de Aplicación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2004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y gestión empresarial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32004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sistemas y software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32004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377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Biología y ciencias naturales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32004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Ciencias sociales y organizaciones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32004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566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y pedagogía sistémica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777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Importancia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74920" y="1188720"/>
            <a:ext cx="3749040" cy="804672"/>
          </a:xfrm>
          <a:prstGeom prst="rect">
            <a:avLst>
              <a:gd name="adj" fmla="val 5682"/>
            </a:avLst>
          </a:prstGeom>
          <a:solidFill>
            <a:srgbClr val="1E3553"/>
          </a:solidFill>
          <a:ln w="12700">
            <a:solidFill>
              <a:srgbClr val="1E35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74920" y="1188720"/>
            <a:ext cx="54864" cy="804672"/>
          </a:xfrm>
          <a:prstGeom prst="rect">
            <a:avLst/>
          </a:prstGeom>
          <a:solidFill>
            <a:srgbClr val="14A89E"/>
          </a:solidFill>
          <a:ln w="12700">
            <a:solidFill>
              <a:srgbClr val="14A8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12435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organizacional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85232" y="15179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 cómo interactúan los componentes complejos.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2103120"/>
            <a:ext cx="3749040" cy="804672"/>
          </a:xfrm>
          <a:prstGeom prst="rect">
            <a:avLst>
              <a:gd name="adj" fmla="val 5682"/>
            </a:avLst>
          </a:prstGeom>
          <a:solidFill>
            <a:srgbClr val="1E3553"/>
          </a:solidFill>
          <a:ln w="12700">
            <a:solidFill>
              <a:srgbClr val="1E35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74920" y="2103120"/>
            <a:ext cx="54864" cy="804672"/>
          </a:xfrm>
          <a:prstGeom prst="rect">
            <a:avLst/>
          </a:prstGeom>
          <a:solidFill>
            <a:srgbClr val="14A89E"/>
          </a:solidFill>
          <a:ln w="12700">
            <a:solidFill>
              <a:srgbClr val="14A8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21579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 procesos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85232" y="24323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el análisis de relaciones entre áreas.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74920" y="3017520"/>
            <a:ext cx="3749040" cy="804672"/>
          </a:xfrm>
          <a:prstGeom prst="rect">
            <a:avLst>
              <a:gd name="adj" fmla="val 5682"/>
            </a:avLst>
          </a:prstGeom>
          <a:solidFill>
            <a:srgbClr val="1E3553"/>
          </a:solidFill>
          <a:ln w="12700">
            <a:solidFill>
              <a:srgbClr val="1E35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74920" y="3017520"/>
            <a:ext cx="54864" cy="804672"/>
          </a:xfrm>
          <a:prstGeom prst="rect">
            <a:avLst/>
          </a:prstGeom>
          <a:solidFill>
            <a:srgbClr val="14A89E"/>
          </a:solidFill>
          <a:ln w="12700">
            <a:solidFill>
              <a:srgbClr val="14A8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5232" y="30723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tecnológica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85232" y="33467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sistemas de información con procesos reales.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74920" y="3931920"/>
            <a:ext cx="3749040" cy="804672"/>
          </a:xfrm>
          <a:prstGeom prst="rect">
            <a:avLst>
              <a:gd name="adj" fmla="val 5682"/>
            </a:avLst>
          </a:prstGeom>
          <a:solidFill>
            <a:srgbClr val="1E3553"/>
          </a:solidFill>
          <a:ln w="12700">
            <a:solidFill>
              <a:srgbClr val="1E35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74920" y="3931920"/>
            <a:ext cx="54864" cy="804672"/>
          </a:xfrm>
          <a:prstGeom prst="rect">
            <a:avLst/>
          </a:prstGeom>
          <a:solidFill>
            <a:srgbClr val="14A89E"/>
          </a:solidFill>
          <a:ln w="12700">
            <a:solidFill>
              <a:srgbClr val="14A8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5232" y="39867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eficientes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85232" y="42611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respuestas integrales a problemas complejos.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2148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8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828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2: CodeFactory Solutions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777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de desarrollo de apps móviles para comercio electrónico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1887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No existe un proceso estandarizado para la aprobación de cambios solicitados por clientes.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2331720"/>
            <a:ext cx="2697480" cy="2606040"/>
          </a:xfrm>
          <a:prstGeom prst="rect">
            <a:avLst>
              <a:gd name="adj" fmla="val 1754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" y="239572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Entradas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2834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Solicitud de cambio del cliente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11480" y="331012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Documento de requisitos del proyecto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11480" y="378561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Backlog actual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00400" y="2331720"/>
            <a:ext cx="2697480" cy="2606040"/>
          </a:xfrm>
          <a:prstGeom prst="rect">
            <a:avLst>
              <a:gd name="adj" fmla="val 1754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91840" y="239572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Actividades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37560" y="2834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Análisis de impacto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337560" y="331012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Evaluación técnica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337560" y="378561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Aprobación / Rechazo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337560" y="426110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Actualización del sistema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126480" y="2331720"/>
            <a:ext cx="2697480" cy="2606040"/>
          </a:xfrm>
          <a:prstGeom prst="rect">
            <a:avLst>
              <a:gd name="adj" fmla="val 1754"/>
            </a:avLst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217920" y="239572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Salidas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63640" y="2834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Cambio aprobado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263640" y="331012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Cambio rechazado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263640" y="378561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Backlog actualizado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263640" y="426110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Historial de cambios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2999232" y="3383280"/>
            <a:ext cx="182880" cy="228600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25312" y="3383280"/>
            <a:ext cx="182880" cy="228600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aplica la TGS al Caso 2?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 Cambios como SISTEMA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965960" cy="2286000"/>
          </a:xfrm>
          <a:prstGeom prst="rect">
            <a:avLst>
              <a:gd name="adj" fmla="val 2791"/>
            </a:avLst>
          </a:prstGeom>
          <a:solidFill>
            <a:srgbClr val="17466B"/>
          </a:solidFill>
          <a:ln w="12700">
            <a:solidFill>
              <a:srgbClr val="1746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128016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178308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83080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cambio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de requisitos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actual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66160" y="1188720"/>
            <a:ext cx="1965960" cy="2286000"/>
          </a:xfrm>
          <a:prstGeom prst="rect">
            <a:avLst>
              <a:gd name="adj" fmla="val 2791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30168" y="128016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1691640"/>
            <a:ext cx="178308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783080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impacto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técnica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Aprobación/Rechazo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49440" y="1188720"/>
            <a:ext cx="1965960" cy="2286000"/>
          </a:xfrm>
          <a:prstGeom prst="rect">
            <a:avLst>
              <a:gd name="adj" fmla="val 2791"/>
            </a:avLst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13448" y="128016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40880" y="1691640"/>
            <a:ext cx="178308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783080"/>
            <a:ext cx="1783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aprobado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rechazado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actualizado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40280" y="2194560"/>
            <a:ext cx="1280160" cy="365760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2194560"/>
            <a:ext cx="1325880" cy="365760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274320" y="3703320"/>
            <a:ext cx="8595360" cy="548640"/>
          </a:xfrm>
          <a:prstGeom prst="bentArrow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703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– El historial de cambios mejora futuras evaluaciones y el proceso completo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A89E"/>
          </a:solidFill>
          <a:ln w="12700">
            <a:solidFill>
              <a:srgbClr val="14A8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Sistémico del Proceso de Gestión de Cambios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97480" cy="1920240"/>
          </a:xfrm>
          <a:prstGeom prst="rect">
            <a:avLst>
              <a:gd name="adj" fmla="val 2857"/>
            </a:avLst>
          </a:prstGeom>
          <a:solidFill>
            <a:srgbClr val="192A3E"/>
          </a:solidFill>
          <a:ln w="12700">
            <a:solidFill>
              <a:srgbClr val="19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69748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503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Identificado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24780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GC-001 de CodeFactory Solutions es un sistema misional con entradas, actividades y salidas claramente definidas.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97480" cy="1920240"/>
          </a:xfrm>
          <a:prstGeom prst="rect">
            <a:avLst>
              <a:gd name="adj" fmla="val 2857"/>
            </a:avLst>
          </a:prstGeom>
          <a:solidFill>
            <a:srgbClr val="192A3E"/>
          </a:solidFill>
          <a:ln w="12700">
            <a:solidFill>
              <a:srgbClr val="19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2697480" cy="320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503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Subsistemas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207008"/>
            <a:ext cx="24780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→ Análisis de Impacto → Evaluación Técnica → Decisión → Actualización Backlog. Cada etapa es un subsistema.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697480" cy="1920240"/>
          </a:xfrm>
          <a:prstGeom prst="rect">
            <a:avLst>
              <a:gd name="adj" fmla="val 2857"/>
            </a:avLst>
          </a:prstGeom>
          <a:solidFill>
            <a:srgbClr val="192A3E"/>
          </a:solidFill>
          <a:ln w="12700">
            <a:solidFill>
              <a:srgbClr val="19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22960"/>
            <a:ext cx="2697480" cy="320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8503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del Sistema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6208" y="1207008"/>
            <a:ext cx="24780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cliente, el mercado, los competidores y la tecnología son el entorno que genera cambios y presiona al sistema.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697480" cy="1920240"/>
          </a:xfrm>
          <a:prstGeom prst="rect">
            <a:avLst>
              <a:gd name="adj" fmla="val 2857"/>
            </a:avLst>
          </a:prstGeom>
          <a:solidFill>
            <a:srgbClr val="192A3E"/>
          </a:solidFill>
          <a:ln w="12700">
            <a:solidFill>
              <a:srgbClr val="19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269748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077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Interrelaciones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264408"/>
            <a:ext cx="24780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analista, el equipo técnico y el Product Owner son actores interdependientes: una falla en uno afecta a todos.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697480" cy="1920240"/>
          </a:xfrm>
          <a:prstGeom prst="rect">
            <a:avLst>
              <a:gd name="adj" fmla="val 2857"/>
            </a:avLst>
          </a:prstGeom>
          <a:solidFill>
            <a:srgbClr val="192A3E"/>
          </a:solidFill>
          <a:ln w="12700">
            <a:solidFill>
              <a:srgbClr val="19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80360"/>
            <a:ext cx="2697480" cy="320040"/>
          </a:xfrm>
          <a:prstGeom prst="rect">
            <a:avLst/>
          </a:prstGeom>
          <a:solidFill>
            <a:srgbClr val="14A89E"/>
          </a:solidFill>
          <a:ln w="12700">
            <a:solidFill>
              <a:srgbClr val="14A8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9077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264408"/>
            <a:ext cx="24780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historial de cambios permite medir indicadores y ajustar criterios de aprobación en futuros ciclos del proceso.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880360"/>
            <a:ext cx="2697480" cy="1920240"/>
          </a:xfrm>
          <a:prstGeom prst="rect">
            <a:avLst>
              <a:gd name="adj" fmla="val 2857"/>
            </a:avLst>
          </a:prstGeom>
          <a:solidFill>
            <a:srgbClr val="192A3E"/>
          </a:solidFill>
          <a:ln w="12700">
            <a:solidFill>
              <a:srgbClr val="19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880360"/>
            <a:ext cx="269748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9077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Homeostasis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36208" y="3264408"/>
            <a:ext cx="24780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se autorregula: si los cambios rechazados aumentan, se revisan los criterios de evaluación técnica.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Incidencia del Sistema de Información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60520" cy="4160520"/>
          </a:xfrm>
          <a:prstGeom prst="rect">
            <a:avLst>
              <a:gd name="adj" fmla="val 1319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229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Actividades que se automatizan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256032" cy="256032"/>
          </a:xfrm>
          <a:prstGeom prst="rect">
            <a:avLst>
              <a:gd name="adj" fmla="val 17857"/>
            </a:avLst>
          </a:prstGeom>
          <a:solidFill>
            <a:srgbClr val="14A89E"/>
          </a:solidFill>
          <a:ln w="12700">
            <a:solidFill>
              <a:srgbClr val="14A8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26187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automático de solicitudes con ID único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783080"/>
            <a:ext cx="256032" cy="256032"/>
          </a:xfrm>
          <a:prstGeom prst="rect">
            <a:avLst>
              <a:gd name="adj" fmla="val 17857"/>
            </a:avLst>
          </a:prstGeom>
          <a:solidFill>
            <a:srgbClr val="14A89E"/>
          </a:solidFill>
          <a:ln w="12700">
            <a:solidFill>
              <a:srgbClr val="14A8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83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176479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estandarizados de evaluación técnica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286000"/>
            <a:ext cx="256032" cy="256032"/>
          </a:xfrm>
          <a:prstGeom prst="rect">
            <a:avLst>
              <a:gd name="adj" fmla="val 17857"/>
            </a:avLst>
          </a:prstGeom>
          <a:solidFill>
            <a:srgbClr val="14A89E"/>
          </a:solidFill>
          <a:ln w="12700">
            <a:solidFill>
              <a:srgbClr val="14A8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26771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 de impacto (tiempo y costo)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788920"/>
            <a:ext cx="256032" cy="256032"/>
          </a:xfrm>
          <a:prstGeom prst="rect">
            <a:avLst>
              <a:gd name="adj" fmla="val 17857"/>
            </a:avLst>
          </a:prstGeom>
          <a:solidFill>
            <a:srgbClr val="14A89E"/>
          </a:solidFill>
          <a:ln w="12700">
            <a:solidFill>
              <a:srgbClr val="14A8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277063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al Product Owner para decisión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291840"/>
            <a:ext cx="256032" cy="256032"/>
          </a:xfrm>
          <a:prstGeom prst="rect">
            <a:avLst>
              <a:gd name="adj" fmla="val 17857"/>
            </a:avLst>
          </a:prstGeom>
          <a:solidFill>
            <a:srgbClr val="14A89E"/>
          </a:solidFill>
          <a:ln w="12700">
            <a:solidFill>
              <a:srgbClr val="14A8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327355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automática del backlog al aprobar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794760"/>
            <a:ext cx="256032" cy="256032"/>
          </a:xfrm>
          <a:prstGeom prst="rect">
            <a:avLst>
              <a:gd name="adj" fmla="val 17857"/>
            </a:avLst>
          </a:prstGeom>
          <a:solidFill>
            <a:srgbClr val="14A89E"/>
          </a:solidFill>
          <a:ln w="12700">
            <a:solidFill>
              <a:srgbClr val="14A8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377647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reportes de trazabilidad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749808"/>
            <a:ext cx="4160520" cy="1920240"/>
          </a:xfrm>
          <a:prstGeom prst="rect">
            <a:avLst>
              <a:gd name="adj" fmla="val 2857"/>
            </a:avLst>
          </a:prstGeom>
          <a:solidFill>
            <a:srgbClr val="F0F7FF"/>
          </a:solidFill>
          <a:ln w="12700">
            <a:solidFill>
              <a:srgbClr val="C8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822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Actores del Sistema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Cliente (externo)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1536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Analista de Requisitos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1810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Equipo Técnico / Dev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2084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Owner / Gerente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2359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 de Gestión (Jira)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09160" y="2834640"/>
            <a:ext cx="4160520" cy="2075688"/>
          </a:xfrm>
          <a:prstGeom prst="rect">
            <a:avLst>
              <a:gd name="adj" fmla="val 2643"/>
            </a:avLst>
          </a:prstGeom>
          <a:solidFill>
            <a:srgbClr val="FFF8E7"/>
          </a:solidFill>
          <a:ln w="12700">
            <a:solidFill>
              <a:srgbClr val="F5D9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2907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Frontera del Sistema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2064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74920" y="3310128"/>
            <a:ext cx="1463040" cy="347472"/>
          </a:xfrm>
          <a:prstGeom prst="rect">
            <a:avLst>
              <a:gd name="adj" fmla="val 10526"/>
            </a:avLst>
          </a:prstGeom>
          <a:solidFill>
            <a:srgbClr val="E8F5F0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38928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de la solicitud del cliente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83680" y="3383280"/>
            <a:ext cx="457200" cy="228600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59168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022592" y="3310128"/>
            <a:ext cx="1600200" cy="347472"/>
          </a:xfrm>
          <a:prstGeom prst="rect">
            <a:avLst>
              <a:gd name="adj" fmla="val 10526"/>
            </a:avLst>
          </a:prstGeom>
          <a:solidFill>
            <a:srgbClr val="FEF9E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59168" y="33375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del backlog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46320" y="37673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externo (QA, desarrollo, soporte) queda FUERA del sistema.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914400"/>
          </a:xfrm>
          <a:prstGeom prst="rect">
            <a:avLst>
              <a:gd name="adj" fmla="val 6000"/>
            </a:avLst>
          </a:prstGeom>
          <a:solidFill>
            <a:srgbClr val="192A3E"/>
          </a:solidFill>
          <a:ln w="12700">
            <a:solidFill>
              <a:srgbClr val="19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91440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TGS como marco estructurador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26187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Teoría General de Sistemas proporciona el marco conceptual para diseñar el proceso de Gestión de Cambios de CodeFactory Solutions como un sistema coherente y controlado.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8595360" cy="914400"/>
          </a:xfrm>
          <a:prstGeom prst="rect">
            <a:avLst>
              <a:gd name="adj" fmla="val 6000"/>
            </a:avLst>
          </a:prstGeom>
          <a:solidFill>
            <a:srgbClr val="192A3E"/>
          </a:solidFill>
          <a:ln w="12700">
            <a:solidFill>
              <a:srgbClr val="19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74520"/>
            <a:ext cx="64008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745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19659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sistémico funcional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31343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TGS, el proceso GC-001 integra entradas, actividades y salidas con retroalimentación continua, eliminando la improvisación y el scope creep.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8595360" cy="914400"/>
          </a:xfrm>
          <a:prstGeom prst="rect">
            <a:avLst>
              <a:gd name="adj" fmla="val 6000"/>
            </a:avLst>
          </a:prstGeom>
          <a:solidFill>
            <a:srgbClr val="192A3E"/>
          </a:solidFill>
          <a:ln w="12700">
            <a:solidFill>
              <a:srgbClr val="19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64008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260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01752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Interrelación de actores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3649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enfoque sistémico revela que cliente, analista, equipo técnico y Product Owner son subsistemas interdependientes: la falla de uno afecta el resultado del todo.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977640"/>
            <a:ext cx="8595360" cy="914400"/>
          </a:xfrm>
          <a:prstGeom prst="rect">
            <a:avLst>
              <a:gd name="adj" fmla="val 6000"/>
            </a:avLst>
          </a:prstGeom>
          <a:solidFill>
            <a:srgbClr val="192A3E"/>
          </a:solidFill>
          <a:ln w="12700">
            <a:solidFill>
              <a:srgbClr val="19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77640"/>
            <a:ext cx="64008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776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406908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como potenciador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41655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información alineado con la TGS multiplica la capacidad del proceso: reduce tiempos, garantiza trazabilidad y mejora la toma de decisiones.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109728" cy="49240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34272" y="109728"/>
            <a:ext cx="109728" cy="49240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General de Sistemas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perspectiva que lo integra todo.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3474720"/>
            <a:ext cx="64008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11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Felipe Aguirre Churta  |  Miguel Ángel Estrada Torrentes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Andrés Javier Mora  •  SENA – Ficha 3413988  •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General de Sistemas – CodeFactory Solutions</dc:title>
  <dc:subject>PptxGenJS Presentation</dc:subject>
  <dc:creator>PptxGenJS</dc:creator>
  <cp:lastModifiedBy>PptxGenJS</cp:lastModifiedBy>
  <cp:revision>1</cp:revision>
  <dcterms:created xsi:type="dcterms:W3CDTF">2026-02-27T03:28:11Z</dcterms:created>
  <dcterms:modified xsi:type="dcterms:W3CDTF">2026-02-27T03:28:11Z</dcterms:modified>
</cp:coreProperties>
</file>