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6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6B6560"/>
                </a:solidFill>
                <a:latin typeface="Calibri"/>
              </a:rPr>
              <a:t>Unidades vendidas por semana (ejemplo)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 vendidas por semana (ejemplo)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C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4C9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Manzana</c:v>
                  </c:pt>
                  <c:pt idx="1">
                    <c:v>Lima</c:v>
                  </c:pt>
                  <c:pt idx="2">
                    <c:v>Mora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95</c:v>
                </c:pt>
                <c:pt idx="2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C1121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6A4C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4480560"/>
            <a:ext cx="2377440" cy="2377440"/>
          </a:xfrm>
          <a:prstGeom prst="ellipse">
            <a:avLst/>
          </a:prstGeom>
          <a:solidFill>
            <a:srgbClr val="8BC34A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-822960"/>
            <a:ext cx="1463040" cy="1463040"/>
          </a:xfrm>
          <a:prstGeom prst="ellipse">
            <a:avLst/>
          </a:prstGeom>
          <a:solidFill>
            <a:srgbClr val="FFC107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051560"/>
            <a:ext cx="201168" cy="201168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051560"/>
            <a:ext cx="201168" cy="20116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051560"/>
            <a:ext cx="201168" cy="201168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9692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MANZANA · LIMA · MORA</a:t>
            </a:r>
            <a:endParaRPr lang="en-US" sz="1200" dirty="0"/>
          </a:p>
        </p:txBody>
      </p:sp>
      <p:pic>
        <p:nvPicPr>
          <p:cNvPr id="10" name="Image 0" descr="icons/bottle_white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9646920" y="2148840"/>
            <a:ext cx="1920240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468880"/>
            <a:ext cx="8595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reducir pérdidas de inventario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un negocio de gaseosas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por vencimiento y gestión de sabores de baja demanda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inventario · Presentación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C1121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6A4C9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fugas silenciosas de rentabilidad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resolver, entendamos dónde se está perdiendo el producto hoy.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212080" cy="3840480"/>
          </a:xfrm>
          <a:prstGeom prst="roundRect">
            <a:avLst>
              <a:gd name="adj" fmla="val 3333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468880"/>
            <a:ext cx="822960" cy="82296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9" name="Image 0" descr="icons/warnin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66090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441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20240" y="27157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que vencen sin venderse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36576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mercancía nueva, se coloca delante. Las gaseosas antiguas quedan atrás, se venden de último y terminan venciéndose en la bodega o el estante.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2057400"/>
            <a:ext cx="5212080" cy="3840480"/>
          </a:xfrm>
          <a:prstGeom prst="roundRect">
            <a:avLst>
              <a:gd name="adj" fmla="val 3333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468880"/>
            <a:ext cx="822960" cy="82296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15" name="Image 1" descr="icons/boxe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66090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0" y="2441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589520" y="27157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Sabores de baja rotación se acumulan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37960" y="36576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prefieren mayormente un sabor (ej. manzana). Lima y mora se venden poco; si se compran en igual cantidad, se acumulan y corren riesgo de vencer.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C1121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FFC10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actual empuja el producto viejo al olvido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0976" y="246888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05356" y="2788920"/>
            <a:ext cx="822960" cy="822960"/>
          </a:xfrm>
          <a:prstGeom prst="ellipse">
            <a:avLst/>
          </a:prstGeom>
          <a:solidFill>
            <a:srgbClr val="5C8A2E"/>
          </a:solidFill>
          <a:ln/>
        </p:spPr>
      </p:sp>
      <p:pic>
        <p:nvPicPr>
          <p:cNvPr id="8" name="Image 0" descr="icons/tru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29809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25496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88136" y="374904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producto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al negocio</a:t>
            </a:r>
            <a:endParaRPr lang="en-US" sz="1350" dirty="0"/>
          </a:p>
        </p:txBody>
      </p:sp>
      <p:pic>
        <p:nvPicPr>
          <p:cNvPr id="11" name="Image 1" descr="icons/arrow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351129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02736" y="246888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57116" y="2788920"/>
            <a:ext cx="822960" cy="822960"/>
          </a:xfrm>
          <a:prstGeom prst="ellipse">
            <a:avLst/>
          </a:prstGeom>
          <a:solidFill>
            <a:srgbClr val="D97B06"/>
          </a:solidFill>
          <a:ln/>
        </p:spPr>
      </p:sp>
      <p:pic>
        <p:nvPicPr>
          <p:cNvPr id="14" name="Image 2" descr="icons/lay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40" y="298094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77256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7B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739896" y="374904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coloca adelante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estante</a:t>
            </a:r>
            <a:endParaRPr lang="en-US" sz="1350" dirty="0"/>
          </a:p>
        </p:txBody>
      </p:sp>
      <p:pic>
        <p:nvPicPr>
          <p:cNvPr id="17" name="Image 3" descr="icons/arrow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351129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4496" y="246888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08876" y="2788920"/>
            <a:ext cx="822960" cy="82296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20" name="Image 4" descr="icons/boxes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98094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29016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A4C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391656" y="374904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antiguo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atrás, oculto</a:t>
            </a:r>
            <a:endParaRPr lang="en-US" sz="1350" dirty="0"/>
          </a:p>
        </p:txBody>
      </p:sp>
      <p:pic>
        <p:nvPicPr>
          <p:cNvPr id="23" name="Image 5" descr="icons/arrow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3511296"/>
            <a:ext cx="292608" cy="29260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906256" y="246888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9660636" y="2788920"/>
            <a:ext cx="822960" cy="82296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26" name="Image 6" descr="icons/circlex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2660" y="2980944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780776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9043416" y="374904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sin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haberse vendido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950976" y="5166360"/>
            <a:ext cx="10287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inventario más antiguo nunca llega a la primera fila de venta.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8BC34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C1121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FEFO: primero en vencer, primero en salir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C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F.E.F.O.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Expired, First 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registrar la fecha de vencimiento: los productos que están más cerca de vencer deben ubicarse físicamente adelante, para que salgan primero al vender.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41064"/>
            <a:ext cx="201168" cy="20116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044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383133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cada fecha de vencimiento al recibir mercancía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43984"/>
            <a:ext cx="201168" cy="20116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07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43342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en el frente lo que vence antes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946904"/>
            <a:ext cx="201168" cy="20116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9103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483717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el producto nuevo detrás del antiguo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201168" cy="201168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413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53400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estante regularmente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1600200"/>
            <a:ext cx="5349240" cy="4572000"/>
          </a:xfrm>
          <a:prstGeom prst="roundRect">
            <a:avLst>
              <a:gd name="adj" fmla="val 2800"/>
            </a:avLst>
          </a:prstGeom>
          <a:solidFill>
            <a:srgbClr val="F7F3E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18745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Estante visto desde arriba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251460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DC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2219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ADELANTE (sale primero)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738360" y="22219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ATRÁS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54012" y="2624328"/>
            <a:ext cx="512064" cy="832104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27" name="Shape 25"/>
          <p:cNvSpPr/>
          <p:nvPr/>
        </p:nvSpPr>
        <p:spPr>
          <a:xfrm>
            <a:off x="7840980" y="2624328"/>
            <a:ext cx="512064" cy="832104"/>
          </a:xfrm>
          <a:prstGeom prst="roundRect">
            <a:avLst>
              <a:gd name="adj" fmla="val 14286"/>
            </a:avLst>
          </a:prstGeom>
          <a:solidFill>
            <a:srgbClr val="C1121F"/>
          </a:solidFill>
          <a:ln/>
        </p:spPr>
      </p:sp>
      <p:sp>
        <p:nvSpPr>
          <p:cNvPr id="28" name="Shape 26"/>
          <p:cNvSpPr/>
          <p:nvPr/>
        </p:nvSpPr>
        <p:spPr>
          <a:xfrm>
            <a:off x="8727948" y="2624328"/>
            <a:ext cx="512064" cy="832104"/>
          </a:xfrm>
          <a:prstGeom prst="roundRect">
            <a:avLst>
              <a:gd name="adj" fmla="val 14286"/>
            </a:avLst>
          </a:prstGeom>
          <a:solidFill>
            <a:srgbClr val="8BC3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4916" y="2624328"/>
            <a:ext cx="512064" cy="832104"/>
          </a:xfrm>
          <a:prstGeom prst="roundRect">
            <a:avLst>
              <a:gd name="adj" fmla="val 14286"/>
            </a:avLst>
          </a:prstGeom>
          <a:solidFill>
            <a:srgbClr val="8BC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01884" y="2624328"/>
            <a:ext cx="512064" cy="832104"/>
          </a:xfrm>
          <a:prstGeom prst="roundRect">
            <a:avLst>
              <a:gd name="adj" fmla="val 14286"/>
            </a:avLst>
          </a:prstGeom>
          <a:solidFill>
            <a:srgbClr val="8BC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pronto → adelante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23960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llegado → atrás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4251960"/>
            <a:ext cx="256032" cy="25603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34" name="Text 32"/>
          <p:cNvSpPr/>
          <p:nvPr/>
        </p:nvSpPr>
        <p:spPr>
          <a:xfrm>
            <a:off x="7150608" y="4206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— vence pronto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4709160"/>
            <a:ext cx="256032" cy="256032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46634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— vigilar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66560" y="5166360"/>
            <a:ext cx="256032" cy="256032"/>
          </a:xfrm>
          <a:prstGeom prst="ellipse">
            <a:avLst/>
          </a:prstGeom>
          <a:solidFill>
            <a:srgbClr val="4C9A3F"/>
          </a:solidFill>
          <a:ln/>
        </p:spPr>
      </p:sp>
      <p:sp>
        <p:nvSpPr>
          <p:cNvPr id="38" name="Text 36"/>
          <p:cNvSpPr/>
          <p:nvPr/>
        </p:nvSpPr>
        <p:spPr>
          <a:xfrm>
            <a:off x="7150608" y="5120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— sin urgencia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FFC10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8BC3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1 · PASO A PASO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implementar FEFO en el día a día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7" name="Image 0" descr="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819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Lote, cantidad y fecha de vencimiento de cada entrega.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11" name="Image 1" descr="icons/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6334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Etiquetar por prioridad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Rojo, amarillo o verde según cercanía al vencimiento.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66928" cy="566928"/>
          </a:xfrm>
          <a:prstGeom prst="ellipse">
            <a:avLst/>
          </a:prstGeom>
          <a:solidFill>
            <a:srgbClr val="5C8A2E"/>
          </a:solidFill>
          <a:ln/>
        </p:spPr>
      </p:sp>
      <p:pic>
        <p:nvPicPr>
          <p:cNvPr id="15" name="Image 2" descr="icons/magnif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6850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periódicamente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977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productos próximos a vencer cada semana.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D97B06"/>
          </a:solidFill>
          <a:ln/>
        </p:spPr>
      </p:sp>
      <p:pic>
        <p:nvPicPr>
          <p:cNvPr id="19" name="Image 3" descr="icons/bullho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89204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7365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Promocionar a tiempo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80160" y="5029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 o descuentos antes de que el producto venza.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989320" y="160020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según días restantes (ejemplo)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965960"/>
          <a:ext cx="5623560" cy="2651760"/>
        </p:xfrm>
        <a:graphic>
          <a:graphicData uri="http://schemas.openxmlformats.org/drawingml/2006/table">
            <a:tbl>
              <a:tblPr/>
              <a:tblGrid>
                <a:gridCol w="1280160"/>
                <a:gridCol w="1417320"/>
                <a:gridCol w="29260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Días para vencer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recomendada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11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0–7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Promoción inmediata o combo especial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8–20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Vigilar de cerca, priorizar en exhibición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9A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21+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urgencia, rotación 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F"/>
                    </a:solidFill>
                  </a:tcPr>
                </a:tc>
              </a:tr>
            </a:tbl>
          </a:graphicData>
        </a:graphic>
      </p:graphicFrame>
      <p:sp>
        <p:nvSpPr>
          <p:cNvPr id="24" name="Text 17"/>
          <p:cNvSpPr/>
          <p:nvPr/>
        </p:nvSpPr>
        <p:spPr>
          <a:xfrm>
            <a:off x="5989320" y="4800600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Cifras de ejemplo, no representan datos reales del negocio.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6A4C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8BC3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demanda no se reparte igual entre sabores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la misma cantidad de manzana, lima y mora ignora que la demanda real es muy distinta — y eso genera acumulación y desperdicio.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9659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2011680"/>
            <a:ext cx="4343400" cy="11430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/>
        </p:spPr>
      </p:sp>
      <p:sp>
        <p:nvSpPr>
          <p:cNvPr id="9" name="Shape 6"/>
          <p:cNvSpPr/>
          <p:nvPr/>
        </p:nvSpPr>
        <p:spPr>
          <a:xfrm>
            <a:off x="7543800" y="2286000"/>
            <a:ext cx="594360" cy="59436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10" name="Image 0" descr="icons/trend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4414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66760" y="21762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Manzana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36676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0" y="3383280"/>
            <a:ext cx="4343400" cy="11430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/>
        </p:spPr>
      </p:sp>
      <p:sp>
        <p:nvSpPr>
          <p:cNvPr id="14" name="Shape 10"/>
          <p:cNvSpPr/>
          <p:nvPr/>
        </p:nvSpPr>
        <p:spPr>
          <a:xfrm>
            <a:off x="7543800" y="3657600"/>
            <a:ext cx="594360" cy="594360"/>
          </a:xfrm>
          <a:prstGeom prst="ellipse">
            <a:avLst/>
          </a:prstGeom>
          <a:solidFill>
            <a:srgbClr val="5C8A2E"/>
          </a:solidFill>
          <a:ln/>
        </p:spPr>
      </p:sp>
      <p:pic>
        <p:nvPicPr>
          <p:cNvPr id="15" name="Image 1" descr="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381304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5478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66760" y="3931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baja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0" y="4754880"/>
            <a:ext cx="4343400" cy="11430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/>
        </p:spPr>
      </p:sp>
      <p:sp>
        <p:nvSpPr>
          <p:cNvPr id="19" name="Shape 14"/>
          <p:cNvSpPr/>
          <p:nvPr/>
        </p:nvSpPr>
        <p:spPr>
          <a:xfrm>
            <a:off x="7543800" y="5029200"/>
            <a:ext cx="594360" cy="59436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20" name="Image 2" descr="icons/trenddow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518464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49194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66760" y="5303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baja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8BC34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FFC10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 según lo que realmente se vende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sabores merecen el mismo espacio de inventario.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2697480" cy="109728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9" name="Shape 7"/>
          <p:cNvSpPr/>
          <p:nvPr/>
        </p:nvSpPr>
        <p:spPr>
          <a:xfrm>
            <a:off x="1531620" y="2286000"/>
            <a:ext cx="731520" cy="73152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10" name="Image 0" descr="icons/trend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4688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Muy vendido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85800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Manzana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inventario y reposición frecuente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47288" y="192024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47288" y="1920240"/>
            <a:ext cx="2697480" cy="109728"/>
          </a:xfrm>
          <a:prstGeom prst="rect">
            <a:avLst/>
          </a:prstGeom>
          <a:solidFill>
            <a:srgbClr val="D97B06"/>
          </a:solidFill>
          <a:ln/>
        </p:spPr>
      </p:sp>
      <p:sp>
        <p:nvSpPr>
          <p:cNvPr id="16" name="Shape 13"/>
          <p:cNvSpPr/>
          <p:nvPr/>
        </p:nvSpPr>
        <p:spPr>
          <a:xfrm>
            <a:off x="4430268" y="2286000"/>
            <a:ext cx="731520" cy="731520"/>
          </a:xfrm>
          <a:prstGeom prst="ellipse">
            <a:avLst/>
          </a:prstGeom>
          <a:solidFill>
            <a:srgbClr val="D97B06"/>
          </a:solidFill>
          <a:ln/>
        </p:spPr>
      </p:sp>
      <p:pic>
        <p:nvPicPr>
          <p:cNvPr id="17" name="Image 1" descr="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4688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84448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media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3584448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97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—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630168" y="4206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moderado, reposición regular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45936" y="192024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45936" y="1920240"/>
            <a:ext cx="2697480" cy="109728"/>
          </a:xfrm>
          <a:prstGeom prst="rect">
            <a:avLst/>
          </a:prstGeom>
          <a:solidFill>
            <a:srgbClr val="5C8A2E"/>
          </a:solidFill>
          <a:ln/>
        </p:spPr>
      </p:sp>
      <p:sp>
        <p:nvSpPr>
          <p:cNvPr id="23" name="Shape 19"/>
          <p:cNvSpPr/>
          <p:nvPr/>
        </p:nvSpPr>
        <p:spPr>
          <a:xfrm>
            <a:off x="7328916" y="2286000"/>
            <a:ext cx="731520" cy="731520"/>
          </a:xfrm>
          <a:prstGeom prst="ellipse">
            <a:avLst/>
          </a:prstGeom>
          <a:solidFill>
            <a:srgbClr val="5C8A2E"/>
          </a:solidFill>
          <a:ln/>
        </p:spPr>
      </p:sp>
      <p:pic>
        <p:nvPicPr>
          <p:cNvPr id="24" name="Image 2" descr="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796" y="24688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83096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Poco vendido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483096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Lima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528816" y="4206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unidades, reposición espaciada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244584" y="192024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F7F3E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44584" y="1920240"/>
            <a:ext cx="2697480" cy="109728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30" name="Shape 25"/>
          <p:cNvSpPr/>
          <p:nvPr/>
        </p:nvSpPr>
        <p:spPr>
          <a:xfrm>
            <a:off x="10227564" y="2286000"/>
            <a:ext cx="731520" cy="73152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1" name="Image 3" descr="icons/circleminu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444" y="246888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81744" y="32004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Baja venta + riesgo de vencer</a:t>
            </a:r>
            <a:endParaRPr lang="en-US" sz="1550" dirty="0"/>
          </a:p>
        </p:txBody>
      </p:sp>
      <p:sp>
        <p:nvSpPr>
          <p:cNvPr id="33" name="Text 27"/>
          <p:cNvSpPr/>
          <p:nvPr/>
        </p:nvSpPr>
        <p:spPr>
          <a:xfrm>
            <a:off x="9381744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Mora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427464" y="42062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drásticamente o retirar del catálogo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C1121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6A4C9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CLAVE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¿Reducir compras o hacer marketing?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212080" cy="3246120"/>
          </a:xfrm>
          <a:prstGeom prst="roundRect">
            <a:avLst>
              <a:gd name="adj" fmla="val 3944"/>
            </a:avLst>
          </a:prstGeom>
          <a:solidFill>
            <a:srgbClr val="F7F3E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8" name="Image 0" descr="icons/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principal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691640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Reducir compras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vía más segura: ajustar cuánto se compra de cada sabor según su demanda real evita que el excedente llegue a vencerse.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737360"/>
            <a:ext cx="5212080" cy="3246120"/>
          </a:xfrm>
          <a:prstGeom prst="roundRect">
            <a:avLst>
              <a:gd name="adj" fmla="val 3944"/>
            </a:avLst>
          </a:prstGeom>
          <a:solidFill>
            <a:srgbClr val="F7F3EF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14" name="Image 1" descr="icons/bullho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2219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pequeña y medible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360920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37960" y="2971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solución automática. Se usa como experimento acotado: ubicación visible, combo, descuento pequeño o degustación.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53035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7A0C1E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5303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clave: “¿La promoción aumentó la ganancia, o solo redujo el precio?”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548640"/>
            <a:ext cx="2011680" cy="2011680"/>
          </a:xfrm>
          <a:prstGeom prst="ellipse">
            <a:avLst/>
          </a:prstGeom>
          <a:solidFill>
            <a:srgbClr val="8BC34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5120640"/>
            <a:ext cx="2377440" cy="2377440"/>
          </a:xfrm>
          <a:prstGeom prst="ellipse">
            <a:avLst/>
          </a:prstGeom>
          <a:solidFill>
            <a:srgbClr val="FFC10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2 a 4 semanas, con datos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0" cy="713232"/>
          </a:xfrm>
          <a:prstGeom prst="line">
            <a:avLst/>
          </a:prstGeom>
          <a:noFill/>
          <a:ln w="25400">
            <a:solidFill>
              <a:srgbClr val="DDD5C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8" name="Image 0" descr="icons/circleminu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62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733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Reducir compra de sabores lentos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50% y 70% menos de lo habitual (ejemplo)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319272"/>
            <a:ext cx="0" cy="713232"/>
          </a:xfrm>
          <a:prstGeom prst="line">
            <a:avLst/>
          </a:prstGeom>
          <a:noFill/>
          <a:ln w="25400">
            <a:solidFill>
              <a:srgbClr val="DDD5CA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48640" y="2862072"/>
            <a:ext cx="640080" cy="640080"/>
          </a:xfrm>
          <a:prstGeom prst="ellipse">
            <a:avLst/>
          </a:prstGeom>
          <a:solidFill>
            <a:srgbClr val="D97B06"/>
          </a:solidFill>
          <a:ln/>
        </p:spPr>
      </p:sp>
      <p:pic>
        <p:nvPicPr>
          <p:cNvPr id="13" name="Image 1" descr="icons/bullho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02666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8437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una promoción de bajo costo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25880" y="3182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visible, combo o descuento pequeño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68680" y="4489704"/>
            <a:ext cx="0" cy="713232"/>
          </a:xfrm>
          <a:prstGeom prst="line">
            <a:avLst/>
          </a:prstGeom>
          <a:noFill/>
          <a:ln w="25400">
            <a:solidFill>
              <a:srgbClr val="DDD5CA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48640" y="4032504"/>
            <a:ext cx="640080" cy="640080"/>
          </a:xfrm>
          <a:prstGeom prst="ellipse">
            <a:avLst/>
          </a:prstGeom>
          <a:solidFill>
            <a:srgbClr val="5C8A2E"/>
          </a:solidFill>
          <a:ln/>
        </p:spPr>
      </p:sp>
      <p:pic>
        <p:nvPicPr>
          <p:cNvPr id="18" name="Image 2" descr="icons/check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9709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142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resultados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25880" y="4352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vendidas, margen, sobrante y vencidos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202936"/>
            <a:ext cx="640080" cy="640080"/>
          </a:xfrm>
          <a:prstGeom prst="ellipse">
            <a:avLst/>
          </a:prstGeom>
          <a:solidFill>
            <a:srgbClr val="C1121F"/>
          </a:solidFill>
          <a:ln/>
        </p:spPr>
      </p:sp>
      <p:pic>
        <p:nvPicPr>
          <p:cNvPr id="22" name="Image 3" descr="icons/circle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36752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51846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 con los datos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325880" y="55229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Mantener, reducir aún más, o eliminar el sabor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949440" y="1783080"/>
            <a:ext cx="4663440" cy="4480560"/>
          </a:xfrm>
          <a:prstGeom prst="roundRect">
            <a:avLst>
              <a:gd name="adj" fmla="val 2857"/>
            </a:avLst>
          </a:prstGeom>
          <a:solidFill>
            <a:srgbClr val="F7F3EF"/>
          </a:solidFill>
          <a:ln/>
        </p:spPr>
      </p:sp>
      <p:sp>
        <p:nvSpPr>
          <p:cNvPr id="26" name="Text 20"/>
          <p:cNvSpPr/>
          <p:nvPr/>
        </p:nvSpPr>
        <p:spPr>
          <a:xfrm>
            <a:off x="726948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medir (ejemplo de indicadores)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269480" y="2679192"/>
            <a:ext cx="146304" cy="146304"/>
          </a:xfrm>
          <a:prstGeom prst="ellipse">
            <a:avLst/>
          </a:prstGeom>
          <a:solidFill>
            <a:srgbClr val="5C8A2E"/>
          </a:solidFill>
          <a:ln/>
        </p:spPr>
      </p:sp>
      <p:sp>
        <p:nvSpPr>
          <p:cNvPr id="28" name="Text 22"/>
          <p:cNvSpPr/>
          <p:nvPr/>
        </p:nvSpPr>
        <p:spPr>
          <a:xfrm>
            <a:off x="7543800" y="25511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543800" y="28620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sabor / semana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5C8A2E"/>
          </a:solidFill>
          <a:ln/>
        </p:spPr>
      </p:sp>
      <p:sp>
        <p:nvSpPr>
          <p:cNvPr id="31" name="Text 25"/>
          <p:cNvSpPr/>
          <p:nvPr/>
        </p:nvSpPr>
        <p:spPr>
          <a:xfrm>
            <a:off x="7543800" y="33924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543800" y="3703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real, no solo ingreso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269480" y="4361688"/>
            <a:ext cx="146304" cy="146304"/>
          </a:xfrm>
          <a:prstGeom prst="ellipse">
            <a:avLst/>
          </a:prstGeom>
          <a:solidFill>
            <a:srgbClr val="5C8A2E"/>
          </a:solidFill>
          <a:ln/>
        </p:spPr>
      </p:sp>
      <p:sp>
        <p:nvSpPr>
          <p:cNvPr id="34" name="Text 28"/>
          <p:cNvSpPr/>
          <p:nvPr/>
        </p:nvSpPr>
        <p:spPr>
          <a:xfrm>
            <a:off x="7543800" y="4233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sobrante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7543800" y="4544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sin vender al cierre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7269480" y="5202936"/>
            <a:ext cx="146304" cy="146304"/>
          </a:xfrm>
          <a:prstGeom prst="ellipse">
            <a:avLst/>
          </a:prstGeom>
          <a:solidFill>
            <a:srgbClr val="5C8A2E"/>
          </a:solidFill>
          <a:ln/>
        </p:spPr>
      </p:sp>
      <p:sp>
        <p:nvSpPr>
          <p:cNvPr id="37" name="Text 31"/>
          <p:cNvSpPr/>
          <p:nvPr/>
        </p:nvSpPr>
        <p:spPr>
          <a:xfrm>
            <a:off x="7543800" y="5074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vencidos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7543800" y="53858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perdidas por vencimiento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C1121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4206240" cy="4206240"/>
          </a:xfrm>
          <a:prstGeom prst="ellipse">
            <a:avLst/>
          </a:prstGeom>
          <a:solidFill>
            <a:srgbClr val="6A4C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-914400"/>
            <a:ext cx="1645920" cy="1645920"/>
          </a:xfrm>
          <a:prstGeom prst="ellipse">
            <a:avLst/>
          </a:prstGeom>
          <a:solidFill>
            <a:srgbClr val="8BC34A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más no siempre significa comprar más.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BD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comprar, rotar y promocionar de acuerdo con la demanda.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9516" y="28346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8F1B2E"/>
          </a:solidFill>
          <a:ln/>
        </p:spPr>
      </p:sp>
      <p:sp>
        <p:nvSpPr>
          <p:cNvPr id="9" name="Shape 7"/>
          <p:cNvSpPr/>
          <p:nvPr/>
        </p:nvSpPr>
        <p:spPr>
          <a:xfrm>
            <a:off x="2025396" y="3154680"/>
            <a:ext cx="731520" cy="73152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10" name="Image 0" descr="icons/clo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276" y="3337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2396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FEFO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73836" y="44348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por fecha de vencimiento evita pérdidas por caducidad.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02836" y="28346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8F1B2E"/>
          </a:solidFill>
          <a:ln/>
        </p:spPr>
      </p:sp>
      <p:sp>
        <p:nvSpPr>
          <p:cNvPr id="14" name="Shape 11"/>
          <p:cNvSpPr/>
          <p:nvPr/>
        </p:nvSpPr>
        <p:spPr>
          <a:xfrm>
            <a:off x="5728716" y="3154680"/>
            <a:ext cx="731520" cy="73152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15" name="Image 1" descr="icons/char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33375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85716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diferenciadas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77156" y="44348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cada sabor según su demanda real.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6156" y="28346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8F1B2E"/>
          </a:solidFill>
          <a:ln/>
        </p:spPr>
      </p:sp>
      <p:sp>
        <p:nvSpPr>
          <p:cNvPr id="19" name="Shape 15"/>
          <p:cNvSpPr/>
          <p:nvPr/>
        </p:nvSpPr>
        <p:spPr>
          <a:xfrm>
            <a:off x="9432036" y="3154680"/>
            <a:ext cx="731520" cy="731520"/>
          </a:xfrm>
          <a:prstGeom prst="ellipse">
            <a:avLst/>
          </a:prstGeom>
          <a:solidFill>
            <a:srgbClr val="FFC107"/>
          </a:solidFill>
          <a:ln/>
        </p:spPr>
      </p:sp>
      <p:pic>
        <p:nvPicPr>
          <p:cNvPr id="20" name="Image 2" descr="icons/bullhorn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916" y="33375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89036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Promociones controladas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80476" y="44348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antes de decidir sobre los sabores lentos.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864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“Menos desperdicio, mayor rotación y mejor rentabilidad.”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2026-07-25T13:44:41Z</dcterms:created>
  <dcterms:modified xsi:type="dcterms:W3CDTF">2026-07-25T13:44:41Z</dcterms:modified>
</cp:coreProperties>
</file>