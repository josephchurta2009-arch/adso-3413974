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Proceso manual</c:v>
                </c:pt>
              </c:strCache>
            </c:strRef>
          </c:tx>
          <c:spPr>
            <a:solidFill>
              <a:srgbClr val="C5303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D3748"/>
                    </a:solidFill>
                    <a:latin typeface="Arial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Asignación de ambientes</c:v>
                </c:pt>
                <c:pt idx="1">
                  <c:v>Resolución de cruces</c:v>
                </c:pt>
                <c:pt idx="2">
                  <c:v>Comunicación a instructores</c:v>
                </c:pt>
                <c:pt idx="3">
                  <c:v>Ajustes de último minuto</c:v>
                </c:pt>
                <c:pt idx="4">
                  <c:v>Registro de observaciones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4.5</c:v>
                </c:pt>
                <c:pt idx="1">
                  <c:v>3</c:v>
                </c:pt>
                <c:pt idx="2">
                  <c:v>2.5</c:v>
                </c:pt>
                <c:pt idx="3">
                  <c:v>3</c:v>
                </c:pt>
                <c:pt idx="4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20F-4CA8-8E2B-BA376568F1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 el sistema</c:v>
                </c:pt>
              </c:strCache>
            </c:strRef>
          </c:tx>
          <c:spPr>
            <a:solidFill>
              <a:srgbClr val="27674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D3748"/>
                    </a:solidFill>
                    <a:latin typeface="Arial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Asignación de ambientes</c:v>
                </c:pt>
                <c:pt idx="1">
                  <c:v>Resolución de cruces</c:v>
                </c:pt>
                <c:pt idx="2">
                  <c:v>Comunicación a instructores</c:v>
                </c:pt>
                <c:pt idx="3">
                  <c:v>Ajustes de último minuto</c:v>
                </c:pt>
                <c:pt idx="4">
                  <c:v>Registro de observaciones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0.5</c:v>
                </c:pt>
                <c:pt idx="1">
                  <c:v>0</c:v>
                </c:pt>
                <c:pt idx="2">
                  <c:v>0</c:v>
                </c:pt>
                <c:pt idx="3">
                  <c:v>0.8</c:v>
                </c:pt>
                <c:pt idx="4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20F-4CA8-8E2B-BA376568F1D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1809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718096"/>
                    </a:solidFill>
                    <a:latin typeface="Arial"/>
                  </a:defRPr>
                </a:pPr>
                <a:r>
                  <a:rPr lang="es-CO" sz="1000" b="0" i="0" u="none" strike="noStrike">
                    <a:solidFill>
                      <a:srgbClr val="718096"/>
                    </a:solidFill>
                    <a:latin typeface="Arial"/>
                  </a:rPr>
                  <a:t>Horas / semana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1809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D374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Distribución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3A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D87-4DDD-8621-CA56DF199EF3}"/>
              </c:ext>
            </c:extLst>
          </c:dPt>
          <c:dPt>
            <c:idx val="1"/>
            <c:bubble3D val="0"/>
            <c:spPr>
              <a:solidFill>
                <a:srgbClr val="2B6CB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D87-4DDD-8621-CA56DF199EF3}"/>
              </c:ext>
            </c:extLst>
          </c:dPt>
          <c:dPt>
            <c:idx val="2"/>
            <c:bubble3D val="0"/>
            <c:spPr>
              <a:solidFill>
                <a:srgbClr val="4299E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D87-4DDD-8621-CA56DF199EF3}"/>
              </c:ext>
            </c:extLst>
          </c:dPt>
          <c:dPt>
            <c:idx val="3"/>
            <c:bubble3D val="0"/>
            <c:spPr>
              <a:solidFill>
                <a:srgbClr val="7180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D87-4DDD-8621-CA56DF199EF3}"/>
              </c:ext>
            </c:extLst>
          </c:dPt>
          <c:dPt>
            <c:idx val="4"/>
            <c:bubble3D val="0"/>
            <c:spPr>
              <a:solidFill>
                <a:srgbClr val="A0AE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D87-4DDD-8621-CA56DF199EF3}"/>
              </c:ext>
            </c:extLst>
          </c:dPt>
          <c:dPt>
            <c:idx val="5"/>
            <c:bubble3D val="0"/>
            <c:spPr>
              <a:solidFill>
                <a:srgbClr val="CBD5E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ED87-4DDD-8621-CA56DF199EF3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s-CO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D87-4DDD-8621-CA56DF199EF3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s-CO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D87-4DDD-8621-CA56DF199EF3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s-CO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D87-4DDD-8621-CA56DF199EF3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s-CO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D87-4DDD-8621-CA56DF199EF3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s-CO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D87-4DDD-8621-CA56DF199EF3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s-CO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ED87-4DDD-8621-CA56DF199EF3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CO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Desarrollo Backend (39,5 %)</c:v>
                </c:pt>
                <c:pt idx="1">
                  <c:v>Desarrollo Frontend (23,7 %)</c:v>
                </c:pt>
                <c:pt idx="2">
                  <c:v>Análisis y Diseño (15,8 %)</c:v>
                </c:pt>
                <c:pt idx="3">
                  <c:v>Infraestructura (7,9 %)</c:v>
                </c:pt>
                <c:pt idx="4">
                  <c:v>Pruebas y QA (7,9 %)</c:v>
                </c:pt>
                <c:pt idx="5">
                  <c:v>Implementación (5,2 %)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39.5</c:v>
                </c:pt>
                <c:pt idx="1">
                  <c:v>23.7</c:v>
                </c:pt>
                <c:pt idx="2">
                  <c:v>15.8</c:v>
                </c:pt>
                <c:pt idx="3">
                  <c:v>7.9</c:v>
                </c:pt>
                <c:pt idx="4">
                  <c:v>7.9</c:v>
                </c:pt>
                <c:pt idx="5">
                  <c:v>5.2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ED87-4DDD-8621-CA56DF199E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2D374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520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Situación Actual: Gestión Manual de Horarios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8640" y="11155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Principales deficiencias identificadas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444752"/>
            <a:ext cx="45720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instructores desconocen, al inicio de la jornada, el ambiente asignado y el contenido específico a desarrollar en cada sesión.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presentan cruces de horario: dos o más fichas asignadas a un mismo ambiente de forma simultánea.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distinción operativa entre personal de planta y contratista, lo que genera distribuciones de carga inequitativas.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planeación se gestiona en hojas de cálculo o canales de mensajería sin control de versiones ni trazabilidad.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observaciones de clase no se registran en un sistema centralizado, lo que impide el seguimiento pedagógico.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0" y="1115568"/>
            <a:ext cx="2880360" cy="347472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5577840" y="128016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estimado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proceso actual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577840" y="1828800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5577840" y="278892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semanales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invertidas en ajustes manuales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el equipo coordinador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760720" y="3657600"/>
            <a:ext cx="2331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5577840" y="37490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 a 52 horas mensuales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tareas prescindibles con el sistema.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138160" y="4828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2109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Gestión de Horarios: Módulos y Funcionalidades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15568"/>
          <a:ext cx="8046720" cy="26060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Módulo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Función principal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Problema que resuelve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Ambientes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 de aulas, talleres y laboratorios con disponibilidad en tiempo real.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Eliminación de cruces de horario por solapamiento de espacios físicos.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Fichas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Gestión de grupos y cohortes vinculados a programas y franjas horarias.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Visibilidad de la ocupación por grupo en cada periodo académico.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Instructores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Diferenciación entre personal de planta y contratista; control de carga horaria.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Distribución equitativa y documentada de la carga académica.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Horarios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Asignación automatizada con validación de conflictos en tiempo real.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Eliminación de errores manuales y cruces de programación.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Observaciones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 centralizado de novedades por sesión e instructor.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Trazabilidad pedagógica y gestión de seguimiento académico.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38587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del instructor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4151376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ingresar al sistema, cada instructor visualiza su horario semanal completo indicando: ambiente asignado, ficha correspondiente y contenido específico a desarrollar en cada sesión. No se requiere ninguna gestión adicional por parte del equipo coordinador.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138160" y="4828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08076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Presupuesto Estimado de Desarrollo — Proyecto 4 meses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15568"/>
          <a:ext cx="8046720" cy="25603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 (COP)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Análisis y Diseño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semanas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Analista de Negocios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$ 2.400.000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Desarrollo Backend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semanas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Desarrollador Full Stack Sr.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$ 6.000.000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Desarrollo Frontend / UI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semanas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Desarrollador Frontend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$ 3.600.000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Pruebas y Aseguramiento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semanas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Analista QA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$ 1.200.000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Implementación y Capacitación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semana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Equipo técnico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$ 800.000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Infraestructura (anual)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Recurrente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Servidor / Dominio en la nube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$ 1.200.000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39896"/>
          <a:ext cx="8046720" cy="41148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 gridSpan="3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estimado del proyecto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$ 15.200.000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42976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desarrollo interno reduce los costos hasta un 40 % frente a la contratación externa. El sistema es escalable: los módulos pueden ampliarse sin rediseño arquitectónico.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138160" y="4828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OPERATIVO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66997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Horas Semanales de Gestión: Proceso Manual vs. Sistema Propuesto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48640" y="1024128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115568"/>
          <a:ext cx="566928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400800" y="11155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0" y="15361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13,2 h/semana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400800" y="19202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en trabajo administrativo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0" y="2404872"/>
            <a:ext cx="2286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8"/>
          <p:cNvSpPr/>
          <p:nvPr/>
        </p:nvSpPr>
        <p:spPr>
          <a:xfrm>
            <a:off x="6400800" y="254203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52,8 h/mes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400800" y="29260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recuperado para el equipo coordinador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400800" y="3410712"/>
            <a:ext cx="2286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1"/>
          <p:cNvSpPr/>
          <p:nvPr/>
        </p:nvSpPr>
        <p:spPr>
          <a:xfrm>
            <a:off x="6400800" y="35478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87 %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400800" y="39319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disminución promedio por actividad gestionada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138160" y="4828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TRANSPARENCIA FINANCIERA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Distribución Porcentual del Presupuesto de Desarrollo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115568"/>
          <a:ext cx="493776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115568"/>
          <a:ext cx="2788920" cy="2828108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53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3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Desarrollo Backend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39,5 %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$ 6.000.000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3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Desarrollo Frontend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23,7 %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$ 3.600.000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3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Análisis y Diseño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15,8 %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$ 2.400.000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3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Infraestructura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7,9 %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$ 1.200.000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3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Pruebas y QA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7,9 %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$ 1.200.000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3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5,2 %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   800.000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035040" y="3913632"/>
            <a:ext cx="2788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63,2 % de la inversión se destina directamente a la construcción del producto (backend y frontend). El presupuesto restante cubre garantía de calidad, infraestructura y transferencia de conocimiento.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8138160" y="4828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571</Words>
  <Application>Microsoft Office PowerPoint</Application>
  <PresentationFormat>Presentación en pantalla (16:9)</PresentationFormat>
  <Paragraphs>121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Gestión de Horarios</dc:title>
  <dc:subject>PptxGenJS Presentation</dc:subject>
  <dc:creator>Análisis y Desarrollo de Software</dc:creator>
  <cp:lastModifiedBy>Aprendiz</cp:lastModifiedBy>
  <cp:revision>2</cp:revision>
  <dcterms:created xsi:type="dcterms:W3CDTF">2026-05-23T14:33:42Z</dcterms:created>
  <dcterms:modified xsi:type="dcterms:W3CDTF">2026-05-23T14:36:21Z</dcterms:modified>
</cp:coreProperties>
</file>